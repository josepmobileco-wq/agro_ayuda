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731520"/>
            <a:ext cx="109728" cy="521208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0972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DIAGRAMA DE 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2316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B9D7FA"/>
                </a:solidFill>
              </a:defRPr>
            </a:pPr>
            <a:r>
              <a:t>Ejemplo práctico explicado 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7033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Sistema de ventas en línea</a:t>
            </a:r>
            <a:br/>
            <a:r>
              <a:t>Enfoque para Desarrollo de Software – ADSO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1. ¿Qué es un Diagrama de Componentes?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Es un diagrama UML que muestra cómo se organiza un sistema en componentes de software.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Permite visualizar qué partes del sistema existen y cómo se relacionan entre sí.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Un componente puede ser un módulo, servicio, API, biblioteca, aplicación o sistema externo.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Su objetivo principal es representar la arquitectura lógica del software, no el código línea por línea.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2. ¿Para qué sirve?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9659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869BE"/>
                </a:solidFill>
              </a:defRPr>
            </a:pPr>
            <a:r>
              <a:t>Organizar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385" y="2743200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rPr dirty="0"/>
              <a:t>Divide el Sistema </a:t>
            </a:r>
            <a:endParaRPr lang="es-ES" dirty="0"/>
          </a:p>
          <a:p>
            <a:pPr>
              <a:defRPr sz="1600">
                <a:solidFill>
                  <a:srgbClr val="232830"/>
                </a:solidFill>
              </a:defRPr>
            </a:pP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piezas</a:t>
            </a:r>
            <a:r>
              <a:rPr dirty="0"/>
              <a:t> </a:t>
            </a:r>
            <a:r>
              <a:rPr dirty="0" err="1"/>
              <a:t>claras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79669"/>
                </a:solidFill>
              </a:defRPr>
            </a:pPr>
            <a:r>
              <a:t>Relacionar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3869" y="2743200"/>
            <a:ext cx="21305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32830"/>
                </a:solidFill>
              </a:defRPr>
            </a:pP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dependencias</a:t>
            </a:r>
            <a:r>
              <a:rPr dirty="0"/>
              <a:t> </a:t>
            </a:r>
            <a:endParaRPr lang="es-ES" dirty="0"/>
          </a:p>
          <a:p>
            <a:pPr algn="ctr">
              <a:defRPr sz="1600">
                <a:solidFill>
                  <a:srgbClr val="232830"/>
                </a:solidFill>
              </a:defRPr>
            </a:pPr>
            <a:r>
              <a:rPr dirty="0"/>
              <a:t>entre </a:t>
            </a:r>
            <a:r>
              <a:rPr dirty="0" err="1"/>
              <a:t>componentes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EB9137"/>
                </a:solidFill>
              </a:defRPr>
            </a:pPr>
            <a:r>
              <a:t>Comunicar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3900" y="2743200"/>
            <a:ext cx="20798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32830"/>
                </a:solidFill>
              </a:defRPr>
            </a:pPr>
            <a:r>
              <a:rPr dirty="0" err="1"/>
              <a:t>Facilita</a:t>
            </a:r>
            <a:r>
              <a:rPr dirty="0"/>
              <a:t> </a:t>
            </a:r>
            <a:r>
              <a:rPr dirty="0" err="1"/>
              <a:t>explicar</a:t>
            </a:r>
            <a:r>
              <a:rPr dirty="0"/>
              <a:t> la </a:t>
            </a:r>
            <a:endParaRPr lang="es-ES" dirty="0"/>
          </a:p>
          <a:p>
            <a:pPr algn="ctr">
              <a:defRPr sz="1600">
                <a:solidFill>
                  <a:srgbClr val="232830"/>
                </a:solidFill>
              </a:defRPr>
            </a:pPr>
            <a:r>
              <a:rPr dirty="0" err="1"/>
              <a:t>arquitectura</a:t>
            </a:r>
            <a:r>
              <a:rPr dirty="0"/>
              <a:t> al </a:t>
            </a:r>
            <a:r>
              <a:rPr dirty="0" err="1"/>
              <a:t>equipo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7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19659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785AAA"/>
                </a:solidFill>
              </a:defRPr>
            </a:pPr>
            <a:r>
              <a:t>Diseñar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8638" y="2743200"/>
            <a:ext cx="22996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32830"/>
                </a:solidFill>
              </a:defRPr>
            </a:pPr>
            <a:r>
              <a:rPr dirty="0"/>
              <a:t>Ayuda antes de </a:t>
            </a:r>
            <a:r>
              <a:rPr dirty="0" err="1"/>
              <a:t>construir</a:t>
            </a:r>
            <a:r>
              <a:rPr dirty="0"/>
              <a:t> </a:t>
            </a:r>
            <a:endParaRPr lang="es-ES" dirty="0"/>
          </a:p>
          <a:p>
            <a:pPr algn="ctr">
              <a:defRPr sz="1600">
                <a:solidFill>
                  <a:srgbClr val="232830"/>
                </a:solidFill>
              </a:defRPr>
            </a:pPr>
            <a:r>
              <a:rPr dirty="0"/>
              <a:t>o </a:t>
            </a:r>
            <a:r>
              <a:rPr dirty="0" err="1"/>
              <a:t>modificar</a:t>
            </a:r>
            <a:r>
              <a:rPr dirty="0"/>
              <a:t> el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3. Elementos principales del diagrama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COMPONENTE: representa una pieza modular del software.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INTERFAZ: indica los servicios que un componente ofrece o necesita.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DEPENDENCIA: muestra que un componente utiliza otro.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PUERTO / CONECTOR: puede representar un punto de comunicación.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SISTEMA EXTERNO: representa servicios fuera de nuestra aplicación, por ejemplo una pasarela de pago.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5074920"/>
            <a:ext cx="2468880" cy="777240"/>
          </a:xfrm>
          <a:prstGeom prst="rect">
            <a:avLst/>
          </a:prstGeom>
          <a:solidFill>
            <a:srgbClr val="E1EFFF"/>
          </a:solidFill>
          <a:ln>
            <a:solidFill>
              <a:srgbClr val="2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66760" y="52303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«component»</a:t>
            </a:r>
            <a:br/>
            <a:r>
              <a:t>Ventas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4. Ejemplo: sistema de ventas en línea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3"/>
                </a:solidFill>
              </a:defRPr>
            </a:pPr>
            <a:r>
              <a:t>Imaginemos una tienda virtual que permite comprar productos.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El cliente consulta productos desde una aplicación web.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El módulo de ventas procesa el pedido.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El módulo de inventario verifica existencias.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El servicio de pagos se comunica con una pasarela externa.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El módulo de notificaciones envía la confirmación de compra.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5. Diagrama de componentes — ejemplo completo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0116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93852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869BE"/>
                </a:solidFill>
              </a:defRPr>
            </a:pPr>
            <a:r>
              <a:t>«component»</a:t>
            </a:r>
          </a:p>
          <a:p>
            <a:pPr algn="ctr">
              <a:defRPr sz="1700" b="1">
                <a:solidFill>
                  <a:srgbClr val="232830"/>
                </a:solidFill>
              </a:defRPr>
            </a:pPr>
            <a:r>
              <a:t>Aplicación Web</a:t>
            </a:r>
          </a:p>
          <a:p>
            <a:pPr algn="ctr">
              <a:defRPr sz="1000">
                <a:solidFill>
                  <a:srgbClr val="5A6473"/>
                </a:solidFill>
              </a:defRPr>
            </a:pPr>
            <a:r>
              <a:t>Interfaz del 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0116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0" y="193852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79669"/>
                </a:solidFill>
              </a:defRPr>
            </a:pPr>
            <a:r>
              <a:t>«component»</a:t>
            </a:r>
          </a:p>
          <a:p>
            <a:pPr algn="ctr">
              <a:defRPr sz="1700" b="1">
                <a:solidFill>
                  <a:srgbClr val="232830"/>
                </a:solidFill>
              </a:defRPr>
            </a:pPr>
            <a:r>
              <a:t>Ventas</a:t>
            </a:r>
          </a:p>
          <a:p>
            <a:pPr algn="ctr">
              <a:defRPr sz="1000">
                <a:solidFill>
                  <a:srgbClr val="5A6473"/>
                </a:solidFill>
              </a:defRPr>
            </a:pPr>
            <a:r>
              <a:t>Procesa pedidos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20116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193852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B9137"/>
                </a:solidFill>
              </a:defRPr>
            </a:pPr>
            <a:r>
              <a:t>«component»</a:t>
            </a:r>
          </a:p>
          <a:p>
            <a:pPr algn="ctr">
              <a:defRPr sz="1700" b="1">
                <a:solidFill>
                  <a:srgbClr val="232830"/>
                </a:solidFill>
              </a:defRPr>
            </a:pPr>
            <a:r>
              <a:t>Inventario</a:t>
            </a:r>
          </a:p>
          <a:p>
            <a:pPr algn="ctr">
              <a:defRPr sz="1000">
                <a:solidFill>
                  <a:srgbClr val="5A6473"/>
                </a:solidFill>
              </a:defRPr>
            </a:pPr>
            <a:r>
              <a:t>Consulta existencias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828800"/>
            <a:ext cx="23774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1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938528"/>
            <a:ext cx="21945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15AAA"/>
                </a:solidFill>
              </a:defRPr>
            </a:pPr>
            <a:r>
              <a:t>«component»</a:t>
            </a:r>
          </a:p>
          <a:p>
            <a:pPr algn="ctr">
              <a:defRPr sz="1700" b="1">
                <a:solidFill>
                  <a:srgbClr val="232830"/>
                </a:solidFill>
              </a:defRPr>
            </a:pPr>
            <a:r>
              <a:t>Pasarela de Pago</a:t>
            </a:r>
          </a:p>
          <a:p>
            <a:pPr algn="ctr">
              <a:defRPr sz="1000">
                <a:solidFill>
                  <a:srgbClr val="5A6473"/>
                </a:solidFill>
              </a:defRPr>
            </a:pPr>
            <a:r>
              <a:t>Sistema externo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931920"/>
            <a:ext cx="20116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59" y="404164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869BE"/>
                </a:solidFill>
              </a:defRPr>
            </a:pPr>
            <a:r>
              <a:t>«component»</a:t>
            </a:r>
          </a:p>
          <a:p>
            <a:pPr algn="ctr">
              <a:defRPr sz="1700" b="1">
                <a:solidFill>
                  <a:srgbClr val="232830"/>
                </a:solidFill>
              </a:defRPr>
            </a:pPr>
            <a:r>
              <a:t>Notificaciones</a:t>
            </a:r>
          </a:p>
          <a:p>
            <a:pPr algn="ctr">
              <a:defRPr sz="1000">
                <a:solidFill>
                  <a:srgbClr val="5A6473"/>
                </a:solidFill>
              </a:defRPr>
            </a:pPr>
            <a:r>
              <a:t>Correo / mensaje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931920"/>
            <a:ext cx="20116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4041648"/>
            <a:ext cx="1828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79669"/>
                </a:solidFill>
              </a:defRPr>
            </a:pPr>
            <a:r>
              <a:t>«component»</a:t>
            </a:r>
          </a:p>
          <a:p>
            <a:pPr algn="ctr">
              <a:defRPr sz="1700" b="1">
                <a:solidFill>
                  <a:srgbClr val="232830"/>
                </a:solidFill>
              </a:defRPr>
            </a:pPr>
            <a:r>
              <a:t>Base de Datos</a:t>
            </a:r>
          </a:p>
          <a:p>
            <a:pPr algn="ctr">
              <a:defRPr sz="1000">
                <a:solidFill>
                  <a:srgbClr val="5A6473"/>
                </a:solidFill>
              </a:defRPr>
            </a:pPr>
            <a:r>
              <a:t>Persistencia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395728"/>
            <a:ext cx="64008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2395728"/>
            <a:ext cx="64008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2395728"/>
            <a:ext cx="640081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2971800"/>
            <a:ext cx="502920" cy="96012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943600" y="2971800"/>
            <a:ext cx="960120" cy="96012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971800"/>
            <a:ext cx="2697480" cy="96012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6. ¿Cómo se lee este diagrama?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1. El usuario entra a la Aplicación Web.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2. La aplicación solicita al componente Ventas crear el pedido.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3. Ventas consulta Inventario para verificar existencias.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4. Ventas solicita el pago a la Pasarela de Pago.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5. Si el pago es correcto, Ventas registra la información en la Base de Datos.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6. Finalmente, Notificaciones envía la confirmación al cliente.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7. Diferencia con otros diagramas UML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581912"/>
            <a:ext cx="1792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69BE"/>
                </a:solidFill>
              </a:defRPr>
            </a:pPr>
            <a:r>
              <a:t>Componentes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5852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52928" y="1581912"/>
            <a:ext cx="56327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232830"/>
                </a:solidFill>
              </a:defRPr>
            </a:pPr>
            <a:r>
              <a:t>¿Qué piezas de software forman el sistema y cómo dependen?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417320"/>
            <a:ext cx="2743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05088" y="1581912"/>
            <a:ext cx="2523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5A6473"/>
                </a:solidFill>
              </a:defRPr>
            </a:pPr>
            <a:r>
              <a:t>Arquitectura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724912"/>
            <a:ext cx="1792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69BE"/>
                </a:solidFill>
              </a:defRPr>
            </a:pPr>
            <a:r>
              <a:t>Clases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560320"/>
            <a:ext cx="5852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2724912"/>
            <a:ext cx="56327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232830"/>
                </a:solidFill>
              </a:defRPr>
            </a:pPr>
            <a:r>
              <a:t>¿Qué clases, atributos y métodos existen?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560320"/>
            <a:ext cx="2743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05088" y="2724912"/>
            <a:ext cx="2523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5A6473"/>
                </a:solidFill>
              </a:defRPr>
            </a:pPr>
            <a:r>
              <a:t>Estructura del código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1"/>
            <a:ext cx="1792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69BE"/>
                </a:solidFill>
              </a:defRPr>
            </a:pPr>
            <a:r>
              <a:t>Casos de uso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703320"/>
            <a:ext cx="5852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2928" y="3867911"/>
            <a:ext cx="56327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232830"/>
                </a:solidFill>
              </a:defRPr>
            </a:pPr>
            <a:r>
              <a:t>¿Qué puede hacer cada actor?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703320"/>
            <a:ext cx="2743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05088" y="3867911"/>
            <a:ext cx="2523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5A6473"/>
                </a:solidFill>
              </a:defRPr>
            </a:pPr>
            <a:r>
              <a:t>Requisitos / funcionalidades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463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010912"/>
            <a:ext cx="1792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69BE"/>
                </a:solidFill>
              </a:defRPr>
            </a:pPr>
            <a:r>
              <a:t>Secuencia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846320"/>
            <a:ext cx="5852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52928" y="5010912"/>
            <a:ext cx="56327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232830"/>
                </a:solidFill>
              </a:defRPr>
            </a:pPr>
            <a:r>
              <a:t>¿En qué orden se envían mensajes?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4846320"/>
            <a:ext cx="2743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05088" y="5010912"/>
            <a:ext cx="2523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5A6473"/>
                </a:solidFill>
              </a:defRPr>
            </a:pPr>
            <a:r>
              <a:t>Comportamiento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8. Aplicación en un proyecto ADSO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Antes de programar: identificar módulos y servicios principales.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Durante el diseño: definir qué componente depende de cuál.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Durante la implementación: asignar responsabilidades a cada módulo.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Durante las pruebas: comprobar las comunicaciones entre componentes.</a:t>
            </a:r>
          </a:p>
          <a:p>
            <a:pPr>
              <a:spcAft>
                <a:spcPts val="1200"/>
              </a:spcAft>
              <a:defRPr sz="1900">
                <a:solidFill>
                  <a:srgbClr val="232830"/>
                </a:solidFill>
              </a:defRPr>
            </a:pPr>
            <a:r>
              <a:t>Durante el mantenimiento: localizar qué componente debe modificarse sin afectar innecesariamente los demás.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9. Actividad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Diseña un diagrama de componentes para un sistema de biblioteca.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Incluye: Aplicación Web, Usuarios, Libros, Préstamos y Base de Datos.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Agrega un componente externo para enviar notificaciones.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Dibuja las dependencias y explica el recorrido de una solicitud de préstamo.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10. 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El diagrama de componentes representa la arquitectura modular del software.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Los componentes muestran piezas funcionales del sistema.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Las conexiones representan comunicación o dependencia.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Es especialmente útil para comprender sistemas con varios módulos, servicios y sistemas externos.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En ADSO ayuda a pasar de los requisitos y el diseño a una arquitectura clara antes de implementar.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647</Words>
  <Application>Microsoft Office PowerPoint</Application>
  <PresentationFormat>Panorámica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Administrador</cp:lastModifiedBy>
  <cp:revision>2</cp:revision>
  <dcterms:created xsi:type="dcterms:W3CDTF">2013-01-27T09:14:16Z</dcterms:created>
  <dcterms:modified xsi:type="dcterms:W3CDTF">2026-09-23T01:50:24Z</dcterms:modified>
  <cp:category/>
</cp:coreProperties>
</file>